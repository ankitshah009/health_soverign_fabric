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1920240"/>
            <a:ext cx="6583680" cy="6583680"/>
          </a:xfrm>
          <a:prstGeom prst="ellipse">
            <a:avLst/>
          </a:prstGeom>
          <a:solidFill>
            <a:srgbClr val="16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94560" y="3291840"/>
            <a:ext cx="5852160" cy="5852160"/>
          </a:xfrm>
          <a:prstGeom prst="ellipse">
            <a:avLst/>
          </a:prstGeom>
          <a:solidFill>
            <a:srgbClr val="0A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585216"/>
            <a:ext cx="100584" cy="100584"/>
          </a:xfrm>
          <a:prstGeom prst="ellipse">
            <a:avLst/>
          </a:prstGeom>
          <a:gradFill rotWithShape="1">
            <a:gsLst>
              <a:gs pos="0">
                <a:srgbClr val="8B7BFF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4" y="566928"/>
            <a:ext cx="10399471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 spc="260">
                <a:solidFill>
                  <a:srgbClr val="9AA0AA"/>
                </a:solidFill>
                <a:latin typeface="Calibri"/>
              </a:rPr>
              <a:t>AUTONOMOUS HEALTHCARE HACKATHON · LEGION HEALTH × ATLAS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3721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400" b="1" i="0" spc="-240">
                <a:solidFill>
                  <a:srgbClr val="F5F5F7"/>
                </a:solidFill>
                <a:latin typeface="Calibri"/>
              </a:rPr>
              <a:t>SOVEREIGN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1063721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F5F5F7"/>
                </a:solidFill>
                <a:latin typeface="Calibri"/>
              </a:rPr>
              <a:t>Your AI patient advocate — with a </a:t>
            </a:r>
            <a:r>
              <a:rPr sz="2400" b="1" i="0">
                <a:solidFill>
                  <a:srgbClr val="8B7BFF"/>
                </a:solidFill>
                <a:latin typeface="Calibri"/>
              </a:rPr>
              <a:t>provable conscience.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sz="1800" b="0" i="0">
                <a:solidFill>
                  <a:srgbClr val="9AA0AA"/>
                </a:solidFill>
                <a:latin typeface="Calibri"/>
              </a:rPr>
              <a:t>Talk. We fight your bill. You stay </a:t>
            </a:r>
            <a:r>
              <a:rPr sz="1800" b="1" i="0">
                <a:solidFill>
                  <a:srgbClr val="22D3EE"/>
                </a:solidFill>
                <a:latin typeface="Calibri"/>
              </a:rPr>
              <a:t>sovereign.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440680"/>
            <a:ext cx="1152136" cy="420624"/>
          </a:xfrm>
          <a:prstGeom prst="roundRect">
            <a:avLst>
              <a:gd name="adj" fmla="val 50000"/>
            </a:avLst>
          </a:prstGeom>
          <a:solidFill>
            <a:srgbClr val="1A1B2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FD2D8"/>
                </a:solidFill>
                <a:latin typeface="Calibri"/>
              </a:rPr>
              <a:t>Grok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392" y="5440680"/>
            <a:ext cx="1227116" cy="420624"/>
          </a:xfrm>
          <a:prstGeom prst="roundRect">
            <a:avLst>
              <a:gd name="adj" fmla="val 50000"/>
            </a:avLst>
          </a:prstGeom>
          <a:solidFill>
            <a:srgbClr val="1A1B2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FD2D8"/>
                </a:solidFill>
                <a:latin typeface="Calibri"/>
              </a:rPr>
              <a:t>Grok 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2524" y="5440680"/>
            <a:ext cx="1002176" cy="420624"/>
          </a:xfrm>
          <a:prstGeom prst="roundRect">
            <a:avLst>
              <a:gd name="adj" fmla="val 50000"/>
            </a:avLst>
          </a:prstGeom>
          <a:solidFill>
            <a:srgbClr val="1A1B2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FD2D8"/>
                </a:solidFill>
                <a:latin typeface="Calibri"/>
              </a:rPr>
              <a:t>grok-4.3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2716" y="5440680"/>
            <a:ext cx="1452056" cy="420624"/>
          </a:xfrm>
          <a:prstGeom prst="roundRect">
            <a:avLst>
              <a:gd name="adj" fmla="val 50000"/>
            </a:avLst>
          </a:prstGeom>
          <a:solidFill>
            <a:srgbClr val="1A1B2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FD2D8"/>
                </a:solidFill>
                <a:latin typeface="Calibri"/>
              </a:rPr>
              <a:t>Vercel/Next.js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2788" y="5440680"/>
            <a:ext cx="1602016" cy="420624"/>
          </a:xfrm>
          <a:prstGeom prst="roundRect">
            <a:avLst>
              <a:gd name="adj" fmla="val 50000"/>
            </a:avLst>
          </a:prstGeom>
          <a:solidFill>
            <a:srgbClr val="1A1B2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FD2D8"/>
                </a:solidFill>
                <a:latin typeface="Calibri"/>
              </a:rPr>
              <a:t>Ed25519 receipts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85216"/>
            <a:ext cx="100584" cy="100584"/>
          </a:xfrm>
          <a:prstGeom prst="ellipse">
            <a:avLst/>
          </a:prstGeom>
          <a:gradFill rotWithShape="1">
            <a:gsLst>
              <a:gs pos="0">
                <a:srgbClr val="8B7BFF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399471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 spc="260">
                <a:solidFill>
                  <a:srgbClr val="9AA0AA"/>
                </a:solidFill>
                <a:latin typeface="Calibri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200" b="1" i="0" spc="-60">
                <a:solidFill>
                  <a:srgbClr val="F5F5F7"/>
                </a:solidFill>
                <a:latin typeface="Calibri"/>
              </a:rPr>
              <a:t>The system bills you by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23160"/>
            <a:ext cx="2480995" cy="1783080"/>
          </a:xfrm>
          <a:prstGeom prst="roundRect">
            <a:avLst>
              <a:gd name="adj" fmla="val 90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642616"/>
            <a:ext cx="2078659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 spc="-50">
                <a:solidFill>
                  <a:srgbClr val="FF5470"/>
                </a:solidFill>
                <a:latin typeface="Calibri"/>
              </a:rPr>
              <a:t>1 in 5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50" b="0" i="0">
                <a:solidFill>
                  <a:srgbClr val="9AA0AA"/>
                </a:solidFill>
                <a:latin typeface="Calibri"/>
              </a:rPr>
              <a:t>in-network claims denied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5979" y="2423160"/>
            <a:ext cx="2480995" cy="1783080"/>
          </a:xfrm>
          <a:prstGeom prst="roundRect">
            <a:avLst>
              <a:gd name="adj" fmla="val 90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7147" y="2642616"/>
            <a:ext cx="2078659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 spc="-50">
                <a:solidFill>
                  <a:srgbClr val="FF5470"/>
                </a:solidFill>
                <a:latin typeface="Calibri"/>
              </a:rPr>
              <a:t>&lt;1%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50" b="0" i="0">
                <a:solidFill>
                  <a:srgbClr val="9AA0AA"/>
                </a:solidFill>
                <a:latin typeface="Calibri"/>
              </a:rPr>
              <a:t>of denials are ever appealed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4718" y="2423160"/>
            <a:ext cx="2480995" cy="1783080"/>
          </a:xfrm>
          <a:prstGeom prst="roundRect">
            <a:avLst>
              <a:gd name="adj" fmla="val 90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6" y="2642616"/>
            <a:ext cx="2078659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 spc="-50">
                <a:solidFill>
                  <a:srgbClr val="3DDC97"/>
                </a:solidFill>
                <a:latin typeface="Calibri"/>
              </a:rPr>
              <a:t>~40%+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50" b="0" i="0">
                <a:solidFill>
                  <a:srgbClr val="9AA0AA"/>
                </a:solidFill>
                <a:latin typeface="Calibri"/>
              </a:rPr>
              <a:t>of filed appeals succeed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457" y="2423160"/>
            <a:ext cx="2480995" cy="1783080"/>
          </a:xfrm>
          <a:prstGeom prst="roundRect">
            <a:avLst>
              <a:gd name="adj" fmla="val 90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34625" y="2642616"/>
            <a:ext cx="2078659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 spc="-50">
                <a:solidFill>
                  <a:srgbClr val="F5F5F7"/>
                </a:solidFill>
                <a:latin typeface="Calibri"/>
              </a:rPr>
              <a:t>80%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50" b="0" i="0">
                <a:solidFill>
                  <a:srgbClr val="9AA0AA"/>
                </a:solidFill>
                <a:latin typeface="Calibri"/>
              </a:rPr>
              <a:t>of medical bills contain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10637215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5470"/>
                </a:solidFill>
                <a:latin typeface="Calibri"/>
              </a:rPr>
              <a:t>$220B</a:t>
            </a:r>
            <a:r>
              <a:rPr sz="1800" b="0" i="0">
                <a:solidFill>
                  <a:srgbClr val="F5F5F7"/>
                </a:solidFill>
                <a:latin typeface="Calibri"/>
              </a:rPr>
              <a:t> in US medical debt — much of it </a:t>
            </a:r>
            <a:r>
              <a:rPr sz="1800" b="1" i="0">
                <a:solidFill>
                  <a:srgbClr val="F5F5F7"/>
                </a:solidFill>
                <a:latin typeface="Calibri"/>
              </a:rPr>
              <a:t>legally disputable.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800" b="0" i="0">
                <a:solidFill>
                  <a:srgbClr val="9AA0AA"/>
                </a:solidFill>
                <a:latin typeface="Calibri"/>
              </a:rPr>
              <a:t>You're not losing. </a:t>
            </a:r>
            <a:r>
              <a:rPr sz="1800" b="1" i="0">
                <a:solidFill>
                  <a:srgbClr val="F5F5F7"/>
                </a:solidFill>
                <a:latin typeface="Calibri"/>
              </a:rPr>
              <a:t>You never played.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85216"/>
            <a:ext cx="100584" cy="100584"/>
          </a:xfrm>
          <a:prstGeom prst="ellipse">
            <a:avLst/>
          </a:prstGeom>
          <a:gradFill rotWithShape="1">
            <a:gsLst>
              <a:gs pos="0">
                <a:srgbClr val="8B7BFF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399471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 spc="260">
                <a:solidFill>
                  <a:srgbClr val="9AA0AA"/>
                </a:solidFill>
                <a:latin typeface="Calibri"/>
              </a:rPr>
              <a:t>02 · THE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372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5F5F7"/>
                </a:solidFill>
                <a:latin typeface="Calibri"/>
              </a:rPr>
              <a:t>“I got a </a:t>
            </a:r>
            <a:r>
              <a:rPr sz="4000" b="1" i="0">
                <a:solidFill>
                  <a:srgbClr val="FF5470"/>
                </a:solidFill>
                <a:latin typeface="Calibri"/>
              </a:rPr>
              <a:t>$4,200</a:t>
            </a:r>
            <a:r>
              <a:rPr sz="4000" b="1" i="0">
                <a:solidFill>
                  <a:srgbClr val="F5F5F7"/>
                </a:solidFill>
                <a:latin typeface="Calibri"/>
              </a:rPr>
              <a:t> ER bill for a sprained ankle.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4000" b="1" i="0">
                <a:solidFill>
                  <a:srgbClr val="F5F5F7"/>
                </a:solidFill>
                <a:latin typeface="Calibri"/>
              </a:rPr>
              <a:t>My insurance </a:t>
            </a:r>
            <a:r>
              <a:rPr sz="4000" b="1" i="0">
                <a:solidFill>
                  <a:srgbClr val="FF5470"/>
                </a:solidFill>
                <a:latin typeface="Calibri"/>
              </a:rPr>
              <a:t>denied</a:t>
            </a:r>
            <a:r>
              <a:rPr sz="4000" b="1" i="0">
                <a:solidFill>
                  <a:srgbClr val="F5F5F7"/>
                </a:solidFill>
                <a:latin typeface="Calibri"/>
              </a:rPr>
              <a:t> it. Now what?”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26280"/>
            <a:ext cx="8722516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9AA0AA"/>
                </a:solidFill>
                <a:latin typeface="Calibri"/>
              </a:rPr>
              <a:t>You're sick, overwhelmed, and alone — against a billing department that does this every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85216"/>
            <a:ext cx="100584" cy="100584"/>
          </a:xfrm>
          <a:prstGeom prst="ellipse">
            <a:avLst/>
          </a:prstGeom>
          <a:gradFill rotWithShape="1">
            <a:gsLst>
              <a:gs pos="0">
                <a:srgbClr val="8B7BFF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399471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 spc="260">
                <a:solidFill>
                  <a:srgbClr val="9AA0AA"/>
                </a:solidFill>
                <a:latin typeface="Calibri"/>
              </a:rPr>
              <a:t>03 · SOVEREIGN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000" b="1" i="0" spc="-60">
                <a:solidFill>
                  <a:srgbClr val="F5F5F7"/>
                </a:solidFill>
                <a:latin typeface="Calibri"/>
              </a:rPr>
              <a:t>An advocate that actually fights for 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77440"/>
            <a:ext cx="2494711" cy="2148840"/>
          </a:xfrm>
          <a:prstGeom prst="roundRect">
            <a:avLst>
              <a:gd name="adj" fmla="val 85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64008" cy="2148840"/>
          </a:xfrm>
          <a:prstGeom prst="roundRect">
            <a:avLst>
              <a:gd name="adj" fmla="val 40000"/>
            </a:avLst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578608"/>
            <a:ext cx="2074087" cy="1783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 spc="20">
                <a:solidFill>
                  <a:srgbClr val="F5F5F7"/>
                </a:solidFill>
                <a:latin typeface="Calibri"/>
              </a:rPr>
              <a:t>READS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250" b="0" i="0">
                <a:solidFill>
                  <a:srgbClr val="9AA0AA"/>
                </a:solidFill>
                <a:latin typeface="Calibri"/>
              </a:rPr>
              <a:t>Grok Vision parses your bill, EOB &amp; denial: every line item and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1407" y="2377440"/>
            <a:ext cx="2494711" cy="2148840"/>
          </a:xfrm>
          <a:prstGeom prst="roundRect">
            <a:avLst>
              <a:gd name="adj" fmla="val 85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91407" y="2377440"/>
            <a:ext cx="64008" cy="214884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0863" y="2578608"/>
            <a:ext cx="2074087" cy="1783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 spc="20">
                <a:solidFill>
                  <a:srgbClr val="F5F5F7"/>
                </a:solidFill>
                <a:latin typeface="Calibri"/>
              </a:rPr>
              <a:t>FINDS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250" b="0" i="0">
                <a:solidFill>
                  <a:srgbClr val="9AA0AA"/>
                </a:solidFill>
                <a:latin typeface="Calibri"/>
              </a:rPr>
              <a:t>overcharges, duplicates, upcoding, unbundling, illegal balance-billing.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4" y="2377440"/>
            <a:ext cx="2494711" cy="2148840"/>
          </a:xfrm>
          <a:prstGeom prst="roundRect">
            <a:avLst>
              <a:gd name="adj" fmla="val 85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5574" y="2377440"/>
            <a:ext cx="64008" cy="2148840"/>
          </a:xfrm>
          <a:prstGeom prst="roundRect">
            <a:avLst>
              <a:gd name="adj" fmla="val 40000"/>
            </a:avLst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5030" y="2578608"/>
            <a:ext cx="2074087" cy="1783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 spc="20">
                <a:solidFill>
                  <a:srgbClr val="F5F5F7"/>
                </a:solidFill>
                <a:latin typeface="Calibri"/>
              </a:rPr>
              <a:t>FIGHTS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250" b="0" i="0">
                <a:solidFill>
                  <a:srgbClr val="9AA0AA"/>
                </a:solidFill>
                <a:latin typeface="Calibri"/>
              </a:rPr>
              <a:t>drafts your appeal letter + negotiation script, citing the exact statute.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9741" y="2377440"/>
            <a:ext cx="2494711" cy="2148840"/>
          </a:xfrm>
          <a:prstGeom prst="roundRect">
            <a:avLst>
              <a:gd name="adj" fmla="val 85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19741" y="2377440"/>
            <a:ext cx="64008" cy="2148840"/>
          </a:xfrm>
          <a:prstGeom prst="roundRect">
            <a:avLst>
              <a:gd name="adj" fmla="val 4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9197" y="2578608"/>
            <a:ext cx="2074087" cy="1783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 spc="20">
                <a:solidFill>
                  <a:srgbClr val="F5F5F7"/>
                </a:solidFill>
                <a:latin typeface="Calibri"/>
              </a:rPr>
              <a:t>PROVES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250" b="0" i="0">
                <a:solidFill>
                  <a:srgbClr val="9AA0AA"/>
                </a:solidFill>
                <a:latin typeface="Calibri"/>
              </a:rPr>
              <a:t>signs every action it takes on your behalf as a receipt you 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5F5F7"/>
                </a:solidFill>
                <a:latin typeface="Calibri"/>
              </a:rPr>
              <a:t>Then it gives the law </a:t>
            </a:r>
            <a:r>
              <a:rPr sz="1800" b="1" i="0">
                <a:solidFill>
                  <a:srgbClr val="8B7BFF"/>
                </a:solidFill>
                <a:latin typeface="Calibri"/>
              </a:rPr>
              <a:t>teeth</a:t>
            </a:r>
            <a:r>
              <a:rPr sz="1800" b="0" i="0">
                <a:solidFill>
                  <a:srgbClr val="F5F5F7"/>
                </a:solidFill>
                <a:latin typeface="Calibri"/>
              </a:rPr>
              <a:t> — drafts &amp; files your No Surprises Act complaint with </a:t>
            </a:r>
            <a:r>
              <a:rPr sz="1800" b="1" i="0">
                <a:solidFill>
                  <a:srgbClr val="F5F5F7"/>
                </a:solidFill>
                <a:latin typeface="Calibri"/>
              </a:rPr>
              <a:t>CMS</a:t>
            </a:r>
            <a:r>
              <a:rPr sz="1800" b="0" i="0">
                <a:solidFill>
                  <a:srgbClr val="9AA0AA"/>
                </a:solidFill>
                <a:latin typeface="Calibri"/>
              </a:rPr>
              <a:t>. Real teeth, not just a letter.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800" b="0" i="0">
                <a:solidFill>
                  <a:srgbClr val="F5F5F7"/>
                </a:solidFill>
                <a:latin typeface="Calibri"/>
              </a:rPr>
              <a:t>And you just </a:t>
            </a:r>
            <a:r>
              <a:rPr sz="1800" b="1" i="0">
                <a:solidFill>
                  <a:srgbClr val="22D3EE"/>
                </a:solidFill>
                <a:latin typeface="Calibri"/>
              </a:rPr>
              <a:t>talk</a:t>
            </a:r>
            <a:r>
              <a:rPr sz="1800" b="0" i="0">
                <a:solidFill>
                  <a:srgbClr val="F5F5F7"/>
                </a:solidFill>
                <a:latin typeface="Calibri"/>
              </a:rPr>
              <a:t> to it. </a:t>
            </a:r>
            <a:r>
              <a:rPr sz="1600" b="0" i="0">
                <a:solidFill>
                  <a:srgbClr val="9AA0AA"/>
                </a:solidFill>
                <a:latin typeface="Calibri"/>
              </a:rPr>
              <a:t>(Grok Voice)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85216"/>
            <a:ext cx="100584" cy="100584"/>
          </a:xfrm>
          <a:prstGeom prst="ellipse">
            <a:avLst/>
          </a:prstGeom>
          <a:gradFill rotWithShape="1">
            <a:gsLst>
              <a:gs pos="0">
                <a:srgbClr val="8B7BFF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399471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 spc="260">
                <a:solidFill>
                  <a:srgbClr val="9AA0AA"/>
                </a:solidFill>
                <a:latin typeface="Calibri"/>
              </a:rPr>
              <a:t>04 · THE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5F5F7"/>
                </a:solidFill>
                <a:latin typeface="Calibri"/>
              </a:rPr>
              <a:t>It speaks </a:t>
            </a:r>
            <a:r>
              <a:rPr sz="4200" b="1" i="0">
                <a:solidFill>
                  <a:srgbClr val="22D3EE"/>
                </a:solidFill>
                <a:latin typeface="Calibri"/>
              </a:rPr>
              <a:t>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9AA0AA"/>
                </a:solidFill>
                <a:latin typeface="Calibri"/>
              </a:rPr>
              <a:t>A new bill arrives. Sovereign reaches out to </a:t>
            </a:r>
            <a:r>
              <a:rPr sz="1900" b="1" i="0">
                <a:solidFill>
                  <a:srgbClr val="F5F5F7"/>
                </a:solidFill>
                <a:latin typeface="Calibri"/>
              </a:rPr>
              <a:t>YOU</a:t>
            </a:r>
            <a:r>
              <a:rPr sz="1900" b="1" i="0">
                <a:solidFill>
                  <a:srgbClr val="8B7BFF"/>
                </a:solidFill>
                <a:latin typeface="Calibri"/>
              </a:rPr>
              <a:t>: “I found $3,200 in errors — want me to fight it?”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71800"/>
            <a:ext cx="1981139" cy="2240280"/>
          </a:xfrm>
          <a:prstGeom prst="roundRect">
            <a:avLst>
              <a:gd name="adj" fmla="val 100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3136392"/>
            <a:ext cx="1651955" cy="1929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40">
                <a:solidFill>
                  <a:srgbClr val="22D3EE"/>
                </a:solidFill>
                <a:latin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500" b="1" i="0">
                <a:solidFill>
                  <a:srgbClr val="F5F5F7"/>
                </a:solidFill>
                <a:latin typeface="Calibri"/>
              </a:rPr>
              <a:t>Opens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9AA0AA"/>
                </a:solidFill>
                <a:latin typeface="Calibri"/>
              </a:rPr>
              <a:t>bill lands → Sovereign voices you first (Grok Voice)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7523" y="3886200"/>
            <a:ext cx="182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8B7BFF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1259" y="2971800"/>
            <a:ext cx="1981139" cy="2240280"/>
          </a:xfrm>
          <a:prstGeom prst="roundRect">
            <a:avLst>
              <a:gd name="adj" fmla="val 100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5851" y="3136392"/>
            <a:ext cx="1651955" cy="1929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40">
                <a:solidFill>
                  <a:srgbClr val="22D3EE"/>
                </a:solidFill>
                <a:latin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500" b="1" i="0">
                <a:solidFill>
                  <a:srgbClr val="F5F5F7"/>
                </a:solidFill>
                <a:latin typeface="Calibri"/>
              </a:rPr>
              <a:t>Reads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9AA0AA"/>
                </a:solidFill>
                <a:latin typeface="Calibri"/>
              </a:rPr>
              <a:t>Grok Vision parses the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1542" y="3886200"/>
            <a:ext cx="182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8B7BFF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5278" y="2971800"/>
            <a:ext cx="1981139" cy="2240280"/>
          </a:xfrm>
          <a:prstGeom prst="roundRect">
            <a:avLst>
              <a:gd name="adj" fmla="val 100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9870" y="3136392"/>
            <a:ext cx="1651955" cy="1929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40">
                <a:solidFill>
                  <a:srgbClr val="22D3EE"/>
                </a:solidFill>
                <a:latin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500" b="1" i="0">
                <a:solidFill>
                  <a:srgbClr val="F5F5F7"/>
                </a:solidFill>
                <a:latin typeface="Calibri"/>
              </a:rPr>
              <a:t>Check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9AA0AA"/>
                </a:solidFill>
                <a:latin typeface="Calibri"/>
              </a:rPr>
              <a:t>overcharge + denial appealability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5561" y="3886200"/>
            <a:ext cx="182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8B7BFF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297" y="2971800"/>
            <a:ext cx="1981139" cy="2240280"/>
          </a:xfrm>
          <a:prstGeom prst="roundRect">
            <a:avLst>
              <a:gd name="adj" fmla="val 100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3889" y="3136392"/>
            <a:ext cx="1651955" cy="1929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40">
                <a:solidFill>
                  <a:srgbClr val="22D3EE"/>
                </a:solidFill>
                <a:latin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500" b="1" i="0">
                <a:solidFill>
                  <a:srgbClr val="F5F5F7"/>
                </a:solidFill>
                <a:latin typeface="Calibri"/>
              </a:rPr>
              <a:t>Draft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9AA0AA"/>
                </a:solidFill>
                <a:latin typeface="Calibri"/>
              </a:rPr>
              <a:t>appeal + No Surprises Act CMS complaint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9580" y="3886200"/>
            <a:ext cx="182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8B7BFF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3316" y="2971800"/>
            <a:ext cx="1981139" cy="2240280"/>
          </a:xfrm>
          <a:prstGeom prst="roundRect">
            <a:avLst>
              <a:gd name="adj" fmla="val 100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97908" y="3136392"/>
            <a:ext cx="1651955" cy="1929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40">
                <a:solidFill>
                  <a:srgbClr val="22D3EE"/>
                </a:solidFill>
                <a:latin typeface="Calibr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500" b="1" i="0">
                <a:solidFill>
                  <a:srgbClr val="F5F5F7"/>
                </a:solidFill>
                <a:latin typeface="Calibri"/>
              </a:rPr>
              <a:t>Sign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9AA0AA"/>
                </a:solidFill>
                <a:latin typeface="Calibri"/>
              </a:rPr>
              <a:t>consent → Ed25519 Patient Action Receipt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9AA0AA"/>
                </a:solidFill>
                <a:latin typeface="Calibri"/>
              </a:rPr>
              <a:t>No form. No portal. The advocate opens the conversation — agency that comes to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85216"/>
            <a:ext cx="100584" cy="100584"/>
          </a:xfrm>
          <a:prstGeom prst="ellipse">
            <a:avLst/>
          </a:prstGeom>
          <a:gradFill rotWithShape="1">
            <a:gsLst>
              <a:gs pos="0">
                <a:srgbClr val="8B7BFF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399471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 spc="260">
                <a:solidFill>
                  <a:srgbClr val="9AA0AA"/>
                </a:solidFill>
                <a:latin typeface="Calibri"/>
              </a:rPr>
              <a:t>05 · LIVE, NOT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5F5F7"/>
                </a:solidFill>
                <a:latin typeface="Calibri"/>
              </a:rPr>
              <a:t>What it caught on a real bill — </a:t>
            </a:r>
            <a:r>
              <a:rPr sz="3600" b="1" i="0">
                <a:solidFill>
                  <a:srgbClr val="22D3EE"/>
                </a:solidFill>
                <a:latin typeface="Calibri"/>
              </a:rPr>
              <a:t>running grok-4.3,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37215" cy="2697480"/>
          </a:xfrm>
          <a:prstGeom prst="roundRect">
            <a:avLst>
              <a:gd name="adj" fmla="val 3500"/>
            </a:avLst>
          </a:prstGeom>
          <a:solidFill>
            <a:srgbClr val="0C0D1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86584"/>
            <a:ext cx="128016" cy="128016"/>
          </a:xfrm>
          <a:prstGeom prst="ellipse">
            <a:avLst/>
          </a:prstGeom>
          <a:solidFill>
            <a:srgbClr val="FF5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592" y="2386584"/>
            <a:ext cx="128016" cy="128016"/>
          </a:xfrm>
          <a:prstGeom prst="ellipse">
            <a:avLst/>
          </a:prstGeom>
          <a:solidFill>
            <a:srgbClr val="FF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63624" y="2386584"/>
            <a:ext cx="128016" cy="128016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715768"/>
            <a:ext cx="9869119" cy="196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200"/>
              </a:spcAft>
            </a:pPr>
            <a:r>
              <a:rPr sz="1450" b="1" i="0">
                <a:solidFill>
                  <a:srgbClr val="9AA0AA"/>
                </a:solidFill>
                <a:latin typeface="Consolas"/>
              </a:rPr>
              <a:t>OVERCHARGE SCORE  </a:t>
            </a:r>
            <a:r>
              <a:rPr sz="1450" b="1" i="0">
                <a:solidFill>
                  <a:srgbClr val="FF5470"/>
                </a:solidFill>
                <a:latin typeface="Consolas"/>
              </a:rPr>
              <a:t>95 / 100 · CRITICAL</a:t>
            </a:r>
          </a:p>
          <a:p>
            <a:pPr algn="l">
              <a:lnSpc>
                <a:spcPct val="142000"/>
              </a:lnSpc>
              <a:spcAft>
                <a:spcPts val="200"/>
              </a:spcAft>
            </a:pPr>
            <a:r>
              <a:rPr sz="1450" b="1" i="0">
                <a:solidFill>
                  <a:srgbClr val="9AA0AA"/>
                </a:solidFill>
                <a:latin typeface="Consolas"/>
              </a:rPr>
              <a:t>SIGNALS           </a:t>
            </a:r>
            <a:r>
              <a:rPr sz="1450" b="0" i="0">
                <a:solidFill>
                  <a:srgbClr val="CFD2D8"/>
                </a:solidFill>
                <a:latin typeface="Consolas"/>
              </a:rPr>
              <a:t>duplicate_charge · upcoding · price_above_fair_market</a:t>
            </a:r>
          </a:p>
          <a:p>
            <a:pPr algn="l">
              <a:lnSpc>
                <a:spcPct val="142000"/>
              </a:lnSpc>
              <a:spcAft>
                <a:spcPts val="200"/>
              </a:spcAft>
            </a:pPr>
            <a:r>
              <a:rPr sz="1450" b="1" i="0">
                <a:solidFill>
                  <a:srgbClr val="9AA0AA"/>
                </a:solidFill>
                <a:latin typeface="Consolas"/>
              </a:rPr>
              <a:t>FINDING           </a:t>
            </a:r>
            <a:r>
              <a:rPr sz="1450" b="0" i="0">
                <a:solidFill>
                  <a:srgbClr val="CFD2D8"/>
                </a:solidFill>
                <a:latin typeface="Consolas"/>
              </a:rPr>
              <a:t>'You were overcharged by at least </a:t>
            </a:r>
            <a:r>
              <a:rPr sz="1450" b="1" i="0">
                <a:solidFill>
                  <a:srgbClr val="FF5470"/>
                </a:solidFill>
                <a:latin typeface="Consolas"/>
              </a:rPr>
              <a:t>$3,200</a:t>
            </a:r>
            <a:r>
              <a:rPr sz="1450" b="0" i="0">
                <a:solidFill>
                  <a:srgbClr val="CFD2D8"/>
                </a:solidFill>
                <a:latin typeface="Consolas"/>
              </a:rPr>
              <a:t>.'</a:t>
            </a:r>
          </a:p>
          <a:p>
            <a:pPr algn="l">
              <a:lnSpc>
                <a:spcPct val="142000"/>
              </a:lnSpc>
              <a:spcAft>
                <a:spcPts val="200"/>
              </a:spcAft>
            </a:pPr>
            <a:r>
              <a:rPr sz="1450" b="1" i="0">
                <a:solidFill>
                  <a:srgbClr val="9AA0AA"/>
                </a:solidFill>
                <a:latin typeface="Consolas"/>
              </a:rPr>
              <a:t>APPEAL SUCCESS    </a:t>
            </a:r>
            <a:r>
              <a:rPr sz="1450" b="1" i="0">
                <a:solidFill>
                  <a:srgbClr val="3DDC97"/>
                </a:solidFill>
                <a:latin typeface="Consolas"/>
              </a:rPr>
              <a:t>85%</a:t>
            </a:r>
            <a:r>
              <a:rPr sz="1450" b="0" i="0">
                <a:solidFill>
                  <a:srgbClr val="CFD2D8"/>
                </a:solidFill>
                <a:latin typeface="Consolas"/>
              </a:rPr>
              <a:t> → file_appeal</a:t>
            </a:r>
          </a:p>
          <a:p>
            <a:pPr algn="l">
              <a:lnSpc>
                <a:spcPct val="142000"/>
              </a:lnSpc>
              <a:spcAft>
                <a:spcPts val="200"/>
              </a:spcAft>
            </a:pPr>
            <a:r>
              <a:rPr sz="1450" b="1" i="0">
                <a:solidFill>
                  <a:srgbClr val="9AA0AA"/>
                </a:solidFill>
                <a:latin typeface="Consolas"/>
              </a:rPr>
              <a:t>OUTPUT            </a:t>
            </a:r>
            <a:r>
              <a:rPr sz="1450" b="0" i="0">
                <a:solidFill>
                  <a:srgbClr val="CFD2D8"/>
                </a:solidFill>
                <a:latin typeface="Consolas"/>
              </a:rPr>
              <a:t>Drafted appeal letter citing the No Surprises Act +</a:t>
            </a:r>
          </a:p>
          <a:p>
            <a:pPr algn="l">
              <a:lnSpc>
                <a:spcPct val="142000"/>
              </a:lnSpc>
            </a:pPr>
            <a:r>
              <a:rPr sz="1450" b="1" i="0">
                <a:solidFill>
                  <a:srgbClr val="9AA0AA"/>
                </a:solidFill>
                <a:latin typeface="Consolas"/>
              </a:rPr>
              <a:t>                  </a:t>
            </a:r>
            <a:r>
              <a:rPr sz="1450" b="0" i="0">
                <a:solidFill>
                  <a:srgbClr val="CFD2D8"/>
                </a:solidFill>
                <a:latin typeface="Consolas"/>
              </a:rPr>
              <a:t>itemized-bill + internal/external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</a:pPr>
            <a:r>
              <a:rPr sz="1500" b="0" i="0">
                <a:solidFill>
                  <a:srgbClr val="9AA0AA"/>
                </a:solidFill>
                <a:latin typeface="Calibri"/>
              </a:rPr>
              <a:t>Detected a duplicate CPT 99285, level-5 upcoding for a 20-min sprain (should be 99283), and a $450 saline charge vs ~$40–80 fair price — </a:t>
            </a:r>
            <a:r>
              <a:rPr sz="1500" b="1" i="0">
                <a:solidFill>
                  <a:srgbClr val="F5F5F7"/>
                </a:solidFill>
                <a:latin typeface="Calibri"/>
              </a:rPr>
              <a:t>in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85216"/>
            <a:ext cx="100584" cy="100584"/>
          </a:xfrm>
          <a:prstGeom prst="ellipse">
            <a:avLst/>
          </a:prstGeom>
          <a:gradFill rotWithShape="1">
            <a:gsLst>
              <a:gs pos="0">
                <a:srgbClr val="8B7BFF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399471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 spc="260">
                <a:solidFill>
                  <a:srgbClr val="9AA0AA"/>
                </a:solidFill>
                <a:latin typeface="Calibri"/>
              </a:rPr>
              <a:t>06 · 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5F5F7"/>
                </a:solidFill>
                <a:latin typeface="Calibri"/>
              </a:rPr>
              <a:t>We don't just automate. </a:t>
            </a:r>
            <a:r>
              <a:rPr sz="4000" b="1" i="0">
                <a:solidFill>
                  <a:srgbClr val="8B7BFF"/>
                </a:solidFill>
                <a:latin typeface="Calibri"/>
              </a:rPr>
              <a:t>We make it provable.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2494711" cy="1691640"/>
          </a:xfrm>
          <a:prstGeom prst="roundRect">
            <a:avLst>
              <a:gd name="adj" fmla="val 85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64008" cy="169164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441448"/>
            <a:ext cx="2074087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 spc="20">
                <a:solidFill>
                  <a:srgbClr val="F5F5F7"/>
                </a:solidFill>
                <a:latin typeface="Calibri"/>
              </a:rPr>
              <a:t>Intent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250" b="0" i="0">
                <a:solidFill>
                  <a:srgbClr val="9AA0AA"/>
                </a:solidFill>
                <a:latin typeface="Calibri"/>
              </a:rPr>
              <a:t>classifies the action &amp; its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1407" y="2240280"/>
            <a:ext cx="2494711" cy="1691640"/>
          </a:xfrm>
          <a:prstGeom prst="roundRect">
            <a:avLst>
              <a:gd name="adj" fmla="val 85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91407" y="2240280"/>
            <a:ext cx="64008" cy="1691640"/>
          </a:xfrm>
          <a:prstGeom prst="roundRect">
            <a:avLst>
              <a:gd name="adj" fmla="val 40000"/>
            </a:avLst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0863" y="2441448"/>
            <a:ext cx="2074087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 spc="20">
                <a:solidFill>
                  <a:srgbClr val="F5F5F7"/>
                </a:solidFill>
                <a:latin typeface="Calibri"/>
              </a:rPr>
              <a:t>Consent/Risk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250" b="0" i="0">
                <a:solidFill>
                  <a:srgbClr val="9AA0AA"/>
                </a:solidFill>
                <a:latin typeface="Calibri"/>
              </a:rPr>
              <a:t>gates PHI disclosure &amp; action on your behalf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4" y="2240280"/>
            <a:ext cx="2494711" cy="1691640"/>
          </a:xfrm>
          <a:prstGeom prst="roundRect">
            <a:avLst>
              <a:gd name="adj" fmla="val 85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5574" y="2240280"/>
            <a:ext cx="64008" cy="169164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5030" y="2441448"/>
            <a:ext cx="2074087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 spc="20">
                <a:solidFill>
                  <a:srgbClr val="F5F5F7"/>
                </a:solidFill>
                <a:latin typeface="Calibri"/>
              </a:rPr>
              <a:t>Simulation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250" b="0" i="0">
                <a:solidFill>
                  <a:srgbClr val="9AA0AA"/>
                </a:solidFill>
                <a:latin typeface="Calibri"/>
              </a:rPr>
              <a:t>predicts outcome before acting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9741" y="2240280"/>
            <a:ext cx="2494711" cy="1691640"/>
          </a:xfrm>
          <a:prstGeom prst="roundRect">
            <a:avLst>
              <a:gd name="adj" fmla="val 85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19741" y="2240280"/>
            <a:ext cx="64008" cy="1691640"/>
          </a:xfrm>
          <a:prstGeom prst="roundRect">
            <a:avLst>
              <a:gd name="adj" fmla="val 4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9197" y="2441448"/>
            <a:ext cx="2074087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 spc="20">
                <a:solidFill>
                  <a:srgbClr val="F5F5F7"/>
                </a:solidFill>
                <a:latin typeface="Calibri"/>
              </a:rPr>
              <a:t>Receipt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250" b="0" i="0">
                <a:solidFill>
                  <a:srgbClr val="9AA0AA"/>
                </a:solidFill>
                <a:latin typeface="Calibri"/>
              </a:rPr>
              <a:t>Ed25519-signed, verifiable by anyone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10637215" cy="1737360"/>
          </a:xfrm>
          <a:prstGeom prst="roundRect">
            <a:avLst>
              <a:gd name="adj" fmla="val 6000"/>
            </a:avLst>
          </a:prstGeom>
          <a:solidFill>
            <a:srgbClr val="1A1B2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10051999" cy="1325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8B7BFF"/>
                </a:solidFill>
                <a:latin typeface="Calibri"/>
              </a:rPr>
              <a:t>The Sovereign Trust Layer: </a:t>
            </a:r>
            <a:r>
              <a:rPr sz="1600" b="0" i="0">
                <a:solidFill>
                  <a:srgbClr val="CFD2D8"/>
                </a:solidFill>
                <a:latin typeface="Calibri"/>
              </a:rPr>
              <a:t>every autonomous action is consent-gated, simulated, and cryptographically signed into a Patient Action Receipt you own and can carry anywhere.</a:t>
            </a:r>
          </a:p>
          <a:p>
            <a:pPr algn="l">
              <a:lnSpc>
                <a:spcPct val="132000"/>
              </a:lnSpc>
              <a:spcBef>
                <a:spcPts val="800"/>
              </a:spcBef>
            </a:pPr>
            <a:r>
              <a:rPr sz="1600" b="1" i="0">
                <a:solidFill>
                  <a:srgbClr val="3DDC97"/>
                </a:solidFill>
                <a:latin typeface="Calibri"/>
              </a:rPr>
              <a:t>Scan the QR</a:t>
            </a:r>
            <a:r>
              <a:rPr sz="1600" b="0" i="0">
                <a:solidFill>
                  <a:srgbClr val="CFD2D8"/>
                </a:solidFill>
                <a:latin typeface="Calibri"/>
              </a:rPr>
              <a:t> — verify the Ed25519 signature yourself. </a:t>
            </a:r>
            <a:r>
              <a:rPr sz="1600" b="1" i="0">
                <a:solidFill>
                  <a:srgbClr val="3DDC97"/>
                </a:solidFill>
                <a:latin typeface="Calibri"/>
              </a:rPr>
              <a:t>Trust, checked, not promised.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85216"/>
            <a:ext cx="100584" cy="100584"/>
          </a:xfrm>
          <a:prstGeom prst="ellipse">
            <a:avLst/>
          </a:prstGeom>
          <a:gradFill rotWithShape="1">
            <a:gsLst>
              <a:gs pos="0">
                <a:srgbClr val="8B7BFF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399471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 spc="260">
                <a:solidFill>
                  <a:srgbClr val="9AA0AA"/>
                </a:solidFill>
                <a:latin typeface="Calibri"/>
              </a:rPr>
              <a:t>07 ·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5F7"/>
                </a:solidFill>
                <a:latin typeface="Calibri"/>
              </a:rPr>
              <a:t>The future of care is autonomous. </a:t>
            </a:r>
            <a:r>
              <a:rPr sz="3800" b="1" i="0">
                <a:solidFill>
                  <a:srgbClr val="FF5470"/>
                </a:solidFill>
                <a:latin typeface="Calibri"/>
              </a:rPr>
              <a:t>Trust is the bottleneck.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798064"/>
            <a:ext cx="118872" cy="118872"/>
          </a:xfrm>
          <a:prstGeom prst="ellipse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F5F5F7"/>
                </a:solidFill>
                <a:latin typeface="Calibri"/>
              </a:rPr>
              <a:t>Voice is the agency equalizer</a:t>
            </a:r>
            <a:r>
              <a:rPr sz="1900" b="0" i="0">
                <a:solidFill>
                  <a:srgbClr val="9AA0AA"/>
                </a:solidFill>
                <a:latin typeface="Calibri"/>
              </a:rPr>
              <a:t> — the sick, elderly, overwhelmed just talk.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621024"/>
            <a:ext cx="118872" cy="118872"/>
          </a:xfrm>
          <a:prstGeom prst="ellipse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520440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F5F5F7"/>
                </a:solidFill>
                <a:latin typeface="Calibri"/>
              </a:rPr>
              <a:t>Speaks your language</a:t>
            </a:r>
            <a:r>
              <a:rPr sz="1900" b="0" i="0">
                <a:solidFill>
                  <a:srgbClr val="9AA0AA"/>
                </a:solidFill>
                <a:latin typeface="Calibri"/>
              </a:rPr>
              <a:t> — Grok Voice, 100+ languages. Agency for everyone, not just English speakers.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443984"/>
            <a:ext cx="118872" cy="118872"/>
          </a:xfrm>
          <a:prstGeom prst="ellipse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43400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F5F5F7"/>
                </a:solidFill>
                <a:latin typeface="Calibri"/>
              </a:rPr>
              <a:t>Agents will act on patients; </a:t>
            </a:r>
            <a:r>
              <a:rPr sz="1900" b="0" i="0">
                <a:solidFill>
                  <a:srgbClr val="9AA0AA"/>
                </a:solidFill>
                <a:latin typeface="Calibri"/>
              </a:rPr>
              <a:t>the missing layer is provable authorization.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5266944"/>
            <a:ext cx="118872" cy="118872"/>
          </a:xfrm>
          <a:prstGeom prst="ellipse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166360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8B7BFF"/>
                </a:solidFill>
                <a:latin typeface="Calibri"/>
              </a:rPr>
              <a:t>Sovereign is that layer</a:t>
            </a:r>
            <a:r>
              <a:rPr sz="1900" b="0" i="0">
                <a:solidFill>
                  <a:srgbClr val="9AA0AA"/>
                </a:solidFill>
                <a:latin typeface="Calibri"/>
              </a:rPr>
              <a:t> — it does the work and signs every move.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85216"/>
            <a:ext cx="100584" cy="100584"/>
          </a:xfrm>
          <a:prstGeom prst="ellipse">
            <a:avLst/>
          </a:prstGeom>
          <a:gradFill rotWithShape="1">
            <a:gsLst>
              <a:gs pos="0">
                <a:srgbClr val="8B7BFF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399471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 spc="260">
                <a:solidFill>
                  <a:srgbClr val="9AA0AA"/>
                </a:solidFill>
                <a:latin typeface="Calibri"/>
              </a:rPr>
              <a:t>08 · BUILT TODAY, VERIFIED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600" b="1" i="0" spc="-60">
                <a:solidFill>
                  <a:srgbClr val="F5F5F7"/>
                </a:solidFill>
                <a:latin typeface="Calibri"/>
              </a:rPr>
              <a:t>The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514600"/>
            <a:ext cx="2201856" cy="530352"/>
          </a:xfrm>
          <a:prstGeom prst="roundRect">
            <a:avLst>
              <a:gd name="adj" fmla="val 50000"/>
            </a:avLst>
          </a:prstGeom>
          <a:solidFill>
            <a:srgbClr val="1A1B2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FD2D8"/>
                </a:solidFill>
                <a:latin typeface="Calibri"/>
              </a:rPr>
              <a:t>Grok Voice (realtime WS)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7112" y="2514600"/>
            <a:ext cx="2351816" cy="530352"/>
          </a:xfrm>
          <a:prstGeom prst="roundRect">
            <a:avLst>
              <a:gd name="adj" fmla="val 50000"/>
            </a:avLst>
          </a:prstGeom>
          <a:solidFill>
            <a:srgbClr val="1A1B2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FD2D8"/>
                </a:solidFill>
                <a:latin typeface="Calibri"/>
              </a:rPr>
              <a:t>Grok Vision (document OCR)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6944" y="2514600"/>
            <a:ext cx="1901936" cy="530352"/>
          </a:xfrm>
          <a:prstGeom prst="roundRect">
            <a:avLst>
              <a:gd name="adj" fmla="val 50000"/>
            </a:avLst>
          </a:prstGeom>
          <a:solidFill>
            <a:srgbClr val="1A1B2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FD2D8"/>
                </a:solidFill>
                <a:latin typeface="Calibri"/>
              </a:rPr>
              <a:t>grok-4.3 (reasoning)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6896" y="2514600"/>
            <a:ext cx="1976916" cy="530352"/>
          </a:xfrm>
          <a:prstGeom prst="roundRect">
            <a:avLst>
              <a:gd name="adj" fmla="val 50000"/>
            </a:avLst>
          </a:prstGeom>
          <a:solidFill>
            <a:srgbClr val="1A1B2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FD2D8"/>
                </a:solidFill>
                <a:latin typeface="Calibri"/>
              </a:rPr>
              <a:t>FastAPI (async + SSE)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1828" y="2514600"/>
            <a:ext cx="1602016" cy="530352"/>
          </a:xfrm>
          <a:prstGeom prst="roundRect">
            <a:avLst>
              <a:gd name="adj" fmla="val 50000"/>
            </a:avLst>
          </a:prstGeom>
          <a:solidFill>
            <a:srgbClr val="1A1B2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FD2D8"/>
                </a:solidFill>
                <a:latin typeface="Calibri"/>
              </a:rPr>
              <a:t>Next.js / Vercel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91256"/>
            <a:ext cx="2276836" cy="530352"/>
          </a:xfrm>
          <a:prstGeom prst="roundRect">
            <a:avLst>
              <a:gd name="adj" fmla="val 50000"/>
            </a:avLst>
          </a:prstGeom>
          <a:solidFill>
            <a:srgbClr val="1A1B21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FD2D8"/>
                </a:solidFill>
                <a:latin typeface="Calibri"/>
              </a:rPr>
              <a:t>Ed25519 (signed receipts)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60520"/>
            <a:ext cx="10637215" cy="1554480"/>
          </a:xfrm>
          <a:prstGeom prst="roundRect">
            <a:avLst>
              <a:gd name="adj" fmla="val 6000"/>
            </a:avLst>
          </a:prstGeom>
          <a:solidFill>
            <a:srgbClr val="0B1A15"/>
          </a:solidFill>
          <a:ln w="12700">
            <a:solidFill>
              <a:srgbClr val="1E46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4434840"/>
            <a:ext cx="10015423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3DDC97"/>
                </a:solidFill>
                <a:latin typeface="Calibri"/>
              </a:rPr>
              <a:t>✓ Verified live today: </a:t>
            </a:r>
            <a:r>
              <a:rPr sz="1700" b="0" i="0">
                <a:solidFill>
                  <a:srgbClr val="CFD2D8"/>
                </a:solidFill>
                <a:latin typeface="Calibri"/>
              </a:rPr>
              <a:t>model handshake, realtime voice WebSocket, and the full bill→findings→appeal→receipt pipeline end to 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85216"/>
            <a:ext cx="100584" cy="100584"/>
          </a:xfrm>
          <a:prstGeom prst="ellipse">
            <a:avLst/>
          </a:prstGeom>
          <a:gradFill rotWithShape="1">
            <a:gsLst>
              <a:gs pos="0">
                <a:srgbClr val="8B7BFF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399471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 spc="260">
                <a:solidFill>
                  <a:srgbClr val="9AA0AA"/>
                </a:solidFill>
                <a:latin typeface="Calibri"/>
              </a:rPr>
              <a:t>09 · 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37215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5F5F7"/>
                </a:solidFill>
                <a:latin typeface="Calibri"/>
              </a:rPr>
              <a:t>Every patient gets an advocate. </a:t>
            </a:r>
            <a:r>
              <a:rPr sz="4000" b="1" i="0">
                <a:solidFill>
                  <a:srgbClr val="22D3EE"/>
                </a:solidFill>
                <a:latin typeface="Calibri"/>
              </a:rPr>
              <a:t>Every AI action, provable.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00400"/>
            <a:ext cx="9786237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9AA0AA"/>
                </a:solidFill>
                <a:latin typeface="Calibri"/>
              </a:rPr>
              <a:t>A </a:t>
            </a:r>
            <a:r>
              <a:rPr sz="2200" b="1" i="0">
                <a:solidFill>
                  <a:srgbClr val="F5F5F7"/>
                </a:solidFill>
                <a:latin typeface="Calibri"/>
              </a:rPr>
              <a:t>$220B disputable market</a:t>
            </a:r>
            <a:r>
              <a:rPr sz="2200" b="0" i="0">
                <a:solidFill>
                  <a:srgbClr val="9AA0AA"/>
                </a:solidFill>
                <a:latin typeface="Calibri"/>
              </a:rPr>
              <a:t> — built on a </a:t>
            </a:r>
            <a:r>
              <a:rPr sz="2200" b="1" i="0">
                <a:solidFill>
                  <a:srgbClr val="8B7BFF"/>
                </a:solidFill>
                <a:latin typeface="Calibri"/>
              </a:rPr>
              <a:t>sub-150ms authentic-data provenance engine</a:t>
            </a:r>
            <a:r>
              <a:rPr sz="2200" b="0" i="0">
                <a:solidFill>
                  <a:srgbClr val="9AA0AA"/>
                </a:solidFill>
                <a:latin typeface="Calibri"/>
              </a:rPr>
              <a:t> (CMU research) giving autonomous care real-time, verifiable trust.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85216"/>
            <a:ext cx="100584" cy="100584"/>
          </a:xfrm>
          <a:prstGeom prst="ellipse">
            <a:avLst/>
          </a:prstGeom>
          <a:gradFill rotWithShape="1">
            <a:gsLst>
              <a:gs pos="0">
                <a:srgbClr val="8B7BFF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566928"/>
            <a:ext cx="10399471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 spc="260">
                <a:solidFill>
                  <a:srgbClr val="9AA0AA"/>
                </a:solidFill>
                <a:latin typeface="Calibri"/>
              </a:rPr>
              <a:t>10 ·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5F5F7"/>
                </a:solidFill>
                <a:latin typeface="Calibri"/>
              </a:rPr>
              <a:t>From advocate </a:t>
            </a:r>
            <a:r>
              <a:rPr sz="4000" b="1" i="0">
                <a:solidFill>
                  <a:srgbClr val="8B7BFF"/>
                </a:solidFill>
                <a:latin typeface="Calibri"/>
              </a:rPr>
              <a:t>to standing guardian.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5181447" cy="2331720"/>
          </a:xfrm>
          <a:prstGeom prst="roundRect">
            <a:avLst>
              <a:gd name="adj" fmla="val 85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64008" cy="233172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532888"/>
            <a:ext cx="4760823" cy="196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 spc="20">
                <a:solidFill>
                  <a:srgbClr val="F5F5F7"/>
                </a:solidFill>
                <a:latin typeface="Calibri"/>
              </a:rPr>
              <a:t>The standing autonomous advocate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500" b="0" i="0">
                <a:solidFill>
                  <a:srgbClr val="9AA0AA"/>
                </a:solidFill>
                <a:latin typeface="Calibri"/>
              </a:rPr>
              <a:t>Auto-ingests every bill, EOB &amp; denial, audits the moment it lands, and proactively voices you. The patient does nothing until consent.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331720"/>
            <a:ext cx="5181447" cy="2331720"/>
          </a:xfrm>
          <a:prstGeom prst="roundRect">
            <a:avLst>
              <a:gd name="adj" fmla="val 8500"/>
            </a:avLst>
          </a:prstGeom>
          <a:solidFill>
            <a:srgbClr val="14151A"/>
          </a:solidFill>
          <a:ln w="12700">
            <a:solidFill>
              <a:srgbClr val="2C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3007" y="2331720"/>
            <a:ext cx="64008" cy="2331720"/>
          </a:xfrm>
          <a:prstGeom prst="roundRect">
            <a:avLst>
              <a:gd name="adj" fmla="val 40000"/>
            </a:avLst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2463" y="2532888"/>
            <a:ext cx="4760823" cy="196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 spc="20">
                <a:solidFill>
                  <a:srgbClr val="F5F5F7"/>
                </a:solidFill>
                <a:latin typeface="Calibri"/>
              </a:rPr>
              <a:t>The portable trust fabric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500" b="0" i="0">
                <a:solidFill>
                  <a:srgbClr val="9AA0AA"/>
                </a:solidFill>
                <a:latin typeface="Calibri"/>
              </a:rPr>
              <a:t>Every action any health AI takes on your behalf flows through one consent-gated, signed ledger you OWN — and carry to any provider, app, or regulator.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1063721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22D3EE"/>
                </a:solidFill>
                <a:latin typeface="Calibri"/>
              </a:rPr>
              <a:t>Patient agency, made portable and provable.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2194560"/>
            <a:ext cx="6949440" cy="6949440"/>
          </a:xfrm>
          <a:prstGeom prst="ellipse">
            <a:avLst/>
          </a:prstGeom>
          <a:solidFill>
            <a:srgbClr val="14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-2194560"/>
            <a:ext cx="6035040" cy="6035040"/>
          </a:xfrm>
          <a:prstGeom prst="ellipse">
            <a:avLst/>
          </a:prstGeom>
          <a:solidFill>
            <a:srgbClr val="0A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37215" cy="2194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0" b="1" i="0" spc="-220">
                <a:solidFill>
                  <a:srgbClr val="F5F5F7"/>
                </a:solidFill>
                <a:latin typeface="Calibri"/>
              </a:rPr>
              <a:t>SOVEREIGN</a:t>
            </a:r>
          </a:p>
          <a:p>
            <a:pPr algn="ctr">
              <a:lnSpc>
                <a:spcPct val="120000"/>
              </a:lnSpc>
              <a:spcBef>
                <a:spcPts val="1800"/>
              </a:spcBef>
            </a:pPr>
            <a:r>
              <a:rPr sz="2400" b="0" i="0">
                <a:solidFill>
                  <a:srgbClr val="9AA0AA"/>
                </a:solidFill>
                <a:latin typeface="Calibri"/>
              </a:rPr>
              <a:t>Talk. We fight. You stay </a:t>
            </a:r>
            <a:r>
              <a:rPr sz="2400" b="1" i="0">
                <a:solidFill>
                  <a:srgbClr val="22D3EE"/>
                </a:solidFill>
                <a:latin typeface="Calibri"/>
              </a:rPr>
              <a:t>sovereign.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9AA0AA"/>
                </a:solidFill>
                <a:latin typeface="Calibri"/>
              </a:rPr>
              <a:t>Patient agency, made provable.  ·  </a:t>
            </a:r>
            <a:r>
              <a:rPr sz="1400" b="1" i="0">
                <a:solidFill>
                  <a:srgbClr val="8B7BFF"/>
                </a:solidFill>
                <a:latin typeface="Calibri"/>
              </a:rPr>
              <a:t>github.com/ankitshah009/Health_soverign_fabric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